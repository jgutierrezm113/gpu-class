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p:cViewPr varScale="1">
        <p:scale>
          <a:sx n="75" d="100"/>
          <a:sy n="75" d="100"/>
        </p:scale>
        <p:origin x="1944"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003138A-E987-4333-987B-3BA42F5E5D4E}" type="datetimeFigureOut">
              <a:rPr lang="en-US" smtClean="0"/>
              <a:t>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2546265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03138A-E987-4333-987B-3BA42F5E5D4E}" type="datetimeFigureOut">
              <a:rPr lang="en-US" smtClean="0"/>
              <a:t>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1875736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003138A-E987-4333-987B-3BA42F5E5D4E}" type="datetimeFigureOut">
              <a:rPr lang="en-US" smtClean="0"/>
              <a:t>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3844913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03138A-E987-4333-987B-3BA42F5E5D4E}" type="datetimeFigureOut">
              <a:rPr lang="en-US" smtClean="0"/>
              <a:t>12/7/2018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1758496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03138A-E987-4333-987B-3BA42F5E5D4E}" type="datetimeFigureOut">
              <a:rPr lang="en-US" smtClean="0"/>
              <a:t>12/7/2018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2300986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03138A-E987-4333-987B-3BA42F5E5D4E}" type="datetimeFigureOut">
              <a:rPr lang="en-US" smtClean="0"/>
              <a:t>12/7/2018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427794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03138A-E987-4333-987B-3BA42F5E5D4E}" type="datetimeFigureOut">
              <a:rPr lang="en-US" smtClean="0"/>
              <a:t>12/7/2018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154954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003138A-E987-4333-987B-3BA42F5E5D4E}" type="datetimeFigureOut">
              <a:rPr lang="en-US" smtClean="0"/>
              <a:t>12/7/2018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1832463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003138A-E987-4333-987B-3BA42F5E5D4E}" type="datetimeFigureOut">
              <a:rPr lang="en-US" smtClean="0"/>
              <a:t>12/7/2018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1865484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03138A-E987-4333-987B-3BA42F5E5D4E}" type="datetimeFigureOut">
              <a:rPr lang="en-US" smtClean="0"/>
              <a:t>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3135947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03138A-E987-4333-987B-3BA42F5E5D4E}" type="datetimeFigureOut">
              <a:rPr lang="en-US" smtClean="0"/>
              <a:t>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2537898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5003138A-E987-4333-987B-3BA42F5E5D4E}" type="datetimeFigureOut">
              <a:rPr lang="en-US" smtClean="0"/>
              <a:t>12/7/2018</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7BAC19DA-6EEF-437B-982E-53D0327D4734}" type="slidenum">
              <a:rPr lang="en-US" smtClean="0"/>
              <a:t>‹#›</a:t>
            </a:fld>
            <a:endParaRPr lang="en-US"/>
          </a:p>
        </p:txBody>
      </p:sp>
    </p:spTree>
    <p:extLst>
      <p:ext uri="{BB962C8B-B14F-4D97-AF65-F5344CB8AC3E}">
        <p14:creationId xmlns:p14="http://schemas.microsoft.com/office/powerpoint/2010/main" val="22952191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gif"/><Relationship Id="rId5" Type="http://schemas.openxmlformats.org/officeDocument/2006/relationships/image" Target="../media/image2.png"/><Relationship Id="rId4" Type="http://schemas.openxmlformats.org/officeDocument/2006/relationships/hyperlink" Target="https://goo.gl/forms/8VZWaT815N5jfDqh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Lst>
          </a:blip>
          <a:stretch>
            <a:fillRect/>
          </a:stretch>
        </p:blipFill>
        <p:spPr bwMode="auto">
          <a:xfrm>
            <a:off x="246565" y="277417"/>
            <a:ext cx="4478312" cy="3081707"/>
          </a:xfrm>
          <a:prstGeom prst="rect">
            <a:avLst/>
          </a:prstGeom>
          <a:ln>
            <a:noFill/>
          </a:ln>
          <a:extLst>
            <a:ext uri="{53640926-AAD7-44D8-BBD7-CCE9431645EC}">
              <a14:shadowObscured xmlns:a14="http://schemas.microsoft.com/office/drawing/2010/main"/>
            </a:ext>
          </a:extLst>
        </p:spPr>
      </p:pic>
      <p:sp>
        <p:nvSpPr>
          <p:cNvPr id="8" name="Rectangle 7"/>
          <p:cNvSpPr/>
          <p:nvPr/>
        </p:nvSpPr>
        <p:spPr>
          <a:xfrm>
            <a:off x="246565" y="3483821"/>
            <a:ext cx="4478312" cy="8425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ct val="85000"/>
              </a:lnSpc>
            </a:pPr>
            <a:r>
              <a:rPr lang="en-US" sz="2400" b="1" kern="1400" cap="all" dirty="0">
                <a:solidFill>
                  <a:srgbClr val="92D050"/>
                </a:solidFill>
              </a:rPr>
              <a:t>Spring 2019</a:t>
            </a:r>
            <a:endParaRPr lang="en-US" sz="3600" b="1" kern="1400" cap="all" dirty="0">
              <a:solidFill>
                <a:srgbClr val="92D050"/>
              </a:solidFill>
            </a:endParaRPr>
          </a:p>
          <a:p>
            <a:pPr algn="r">
              <a:lnSpc>
                <a:spcPct val="85000"/>
              </a:lnSpc>
            </a:pPr>
            <a:r>
              <a:rPr lang="en-US" sz="2400" b="1" kern="1400" cap="all" dirty="0">
                <a:solidFill>
                  <a:schemeClr val="tx1"/>
                </a:solidFill>
              </a:rPr>
              <a:t>GPU Programming Basics</a:t>
            </a:r>
            <a:endParaRPr lang="en-US" sz="3600" b="1" kern="1400" cap="all" dirty="0">
              <a:solidFill>
                <a:schemeClr val="tx1"/>
              </a:solidFill>
            </a:endParaRPr>
          </a:p>
        </p:txBody>
      </p:sp>
      <p:sp>
        <p:nvSpPr>
          <p:cNvPr id="11" name="Rectangle 10"/>
          <p:cNvSpPr/>
          <p:nvPr/>
        </p:nvSpPr>
        <p:spPr>
          <a:xfrm>
            <a:off x="246566" y="4326326"/>
            <a:ext cx="4478312" cy="45854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1400"/>
              </a:spcBef>
              <a:spcAft>
                <a:spcPts val="600"/>
              </a:spcAft>
            </a:pPr>
            <a:r>
              <a:rPr lang="en-US" b="1" kern="0" dirty="0">
                <a:solidFill>
                  <a:schemeClr val="tx1"/>
                </a:solidFill>
              </a:rPr>
              <a:t>Northeastern Students:</a:t>
            </a:r>
          </a:p>
          <a:p>
            <a:pPr algn="just">
              <a:spcAft>
                <a:spcPts val="800"/>
              </a:spcAft>
            </a:pPr>
            <a:r>
              <a:rPr lang="en-US" sz="1600" dirty="0">
                <a:solidFill>
                  <a:schemeClr val="tx1"/>
                </a:solidFill>
              </a:rPr>
              <a:t>A free GPU Programming class will be offered this Spring sponsored by NUCAR Laboratory. Students will learn about GPUs and interact with them, learning how to write and design algorithms to develop efficient and high performance programs using the CUDA Framework. </a:t>
            </a:r>
            <a:endParaRPr lang="en-US" sz="1400" dirty="0">
              <a:solidFill>
                <a:schemeClr val="tx1"/>
              </a:solidFill>
            </a:endParaRPr>
          </a:p>
          <a:p>
            <a:pPr algn="just">
              <a:spcAft>
                <a:spcPts val="800"/>
              </a:spcAft>
            </a:pPr>
            <a:r>
              <a:rPr lang="en-US" sz="1600" dirty="0">
                <a:solidFill>
                  <a:schemeClr val="tx1"/>
                </a:solidFill>
              </a:rPr>
              <a:t>The course consists of 12 sessions, 2 sessions per week*. We will offer a certification for those students who participated through the entire course as well as a certification for the best performing program for the final project.</a:t>
            </a:r>
            <a:endParaRPr lang="en-US" sz="1400" dirty="0">
              <a:solidFill>
                <a:schemeClr val="tx1"/>
              </a:solidFill>
            </a:endParaRPr>
          </a:p>
          <a:p>
            <a:pPr algn="just">
              <a:spcAft>
                <a:spcPts val="800"/>
              </a:spcAft>
            </a:pPr>
            <a:r>
              <a:rPr lang="en-US" sz="1600" dirty="0">
                <a:solidFill>
                  <a:schemeClr val="tx1"/>
                </a:solidFill>
              </a:rPr>
              <a:t>If you’re interested, please go to the link above and </a:t>
            </a:r>
            <a:r>
              <a:rPr lang="en-US" sz="1600">
                <a:solidFill>
                  <a:schemeClr val="tx1"/>
                </a:solidFill>
              </a:rPr>
              <a:t>fill out </a:t>
            </a:r>
            <a:r>
              <a:rPr lang="en-US" sz="1600" dirty="0">
                <a:solidFill>
                  <a:schemeClr val="tx1"/>
                </a:solidFill>
              </a:rPr>
              <a:t>the form. </a:t>
            </a:r>
            <a:endParaRPr lang="en-US" sz="1400" dirty="0">
              <a:solidFill>
                <a:schemeClr val="tx1"/>
              </a:solidFill>
            </a:endParaRPr>
          </a:p>
          <a:p>
            <a:pPr algn="just">
              <a:spcAft>
                <a:spcPts val="800"/>
              </a:spcAft>
            </a:pPr>
            <a:r>
              <a:rPr lang="en-US" sz="1200" dirty="0">
                <a:solidFill>
                  <a:schemeClr val="tx1"/>
                </a:solidFill>
              </a:rPr>
              <a:t>*Schedule will be determined before the beginning of classes. Expect classes to start on the second week of classes.</a:t>
            </a:r>
            <a:endParaRPr lang="en-US" sz="1100" dirty="0">
              <a:solidFill>
                <a:schemeClr val="tx1"/>
              </a:solidFill>
              <a:latin typeface="Georgia" panose="02040502050405020303" pitchFamily="18" charset="0"/>
              <a:ea typeface="SimSun" panose="02010600030101010101" pitchFamily="2" charset="-122"/>
              <a:cs typeface="Times New Roman" panose="02020603050405020304" pitchFamily="18" charset="0"/>
            </a:endParaRPr>
          </a:p>
        </p:txBody>
      </p:sp>
      <p:sp>
        <p:nvSpPr>
          <p:cNvPr id="14" name="Rectangle 13"/>
          <p:cNvSpPr/>
          <p:nvPr/>
        </p:nvSpPr>
        <p:spPr>
          <a:xfrm>
            <a:off x="4832929" y="277416"/>
            <a:ext cx="1771071" cy="8634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Bef>
                <a:spcPts val="1400"/>
              </a:spcBef>
              <a:spcAft>
                <a:spcPts val="600"/>
              </a:spcAft>
            </a:pPr>
            <a:endParaRPr lang="en-US" b="1" kern="0" dirty="0">
              <a:solidFill>
                <a:schemeClr val="tx1"/>
              </a:solidFill>
            </a:endParaRPr>
          </a:p>
          <a:p>
            <a:pPr algn="ctr">
              <a:spcBef>
                <a:spcPts val="1400"/>
              </a:spcBef>
              <a:spcAft>
                <a:spcPts val="600"/>
              </a:spcAft>
            </a:pPr>
            <a:r>
              <a:rPr lang="en-US" b="1" kern="0" dirty="0">
                <a:solidFill>
                  <a:schemeClr val="tx1"/>
                </a:solidFill>
              </a:rPr>
              <a:t>Sponsored by:</a:t>
            </a:r>
          </a:p>
          <a:p>
            <a:pPr algn="ctr">
              <a:spcBef>
                <a:spcPts val="1400"/>
              </a:spcBef>
              <a:spcAft>
                <a:spcPts val="600"/>
              </a:spcAft>
            </a:pPr>
            <a:endParaRPr lang="en-US" b="1" kern="0" dirty="0">
              <a:solidFill>
                <a:schemeClr val="tx1"/>
              </a:solidFill>
            </a:endParaRPr>
          </a:p>
          <a:p>
            <a:pPr algn="ctr">
              <a:spcBef>
                <a:spcPts val="1400"/>
              </a:spcBef>
              <a:spcAft>
                <a:spcPts val="600"/>
              </a:spcAft>
            </a:pPr>
            <a:endParaRPr lang="en-US" sz="1000" b="1" kern="0" dirty="0">
              <a:solidFill>
                <a:schemeClr val="tx1"/>
              </a:solidFill>
            </a:endParaRPr>
          </a:p>
          <a:p>
            <a:pPr algn="ctr">
              <a:spcBef>
                <a:spcPts val="1400"/>
              </a:spcBef>
              <a:spcAft>
                <a:spcPts val="600"/>
              </a:spcAft>
            </a:pPr>
            <a:r>
              <a:rPr lang="en-US" b="1" kern="0" dirty="0">
                <a:solidFill>
                  <a:schemeClr val="tx1"/>
                </a:solidFill>
              </a:rPr>
              <a:t>It’s Free!</a:t>
            </a:r>
          </a:p>
          <a:p>
            <a:pPr algn="ctr">
              <a:spcBef>
                <a:spcPts val="1400"/>
              </a:spcBef>
              <a:spcAft>
                <a:spcPts val="600"/>
              </a:spcAft>
            </a:pPr>
            <a:r>
              <a:rPr lang="en-US" b="1" kern="0" dirty="0">
                <a:solidFill>
                  <a:schemeClr val="tx1"/>
                </a:solidFill>
              </a:rPr>
              <a:t>Go to:</a:t>
            </a:r>
          </a:p>
          <a:p>
            <a:pPr algn="ctr">
              <a:spcBef>
                <a:spcPts val="1400"/>
              </a:spcBef>
              <a:spcAft>
                <a:spcPts val="600"/>
              </a:spcAft>
            </a:pPr>
            <a:endParaRPr lang="en-US" b="1" kern="0" dirty="0">
              <a:solidFill>
                <a:schemeClr val="tx1"/>
              </a:solidFill>
            </a:endParaRPr>
          </a:p>
          <a:p>
            <a:pPr algn="ctr">
              <a:spcBef>
                <a:spcPts val="1400"/>
              </a:spcBef>
              <a:spcAft>
                <a:spcPts val="600"/>
              </a:spcAft>
            </a:pPr>
            <a:endParaRPr lang="en-US" b="1" kern="0" dirty="0">
              <a:solidFill>
                <a:schemeClr val="tx1"/>
              </a:solidFill>
            </a:endParaRPr>
          </a:p>
          <a:p>
            <a:pPr algn="ctr">
              <a:spcBef>
                <a:spcPts val="1400"/>
              </a:spcBef>
              <a:spcAft>
                <a:spcPts val="600"/>
              </a:spcAft>
            </a:pPr>
            <a:r>
              <a:rPr lang="en-US" sz="1200" b="1" kern="0" dirty="0">
                <a:solidFill>
                  <a:schemeClr val="tx1"/>
                </a:solidFill>
                <a:hlinkClick r:id="rId4"/>
              </a:rPr>
              <a:t>https://goo.gl/forms/8VZWaT815N5jfDqh2</a:t>
            </a:r>
            <a:r>
              <a:rPr lang="en-US" sz="1200" b="1" kern="0" dirty="0">
                <a:solidFill>
                  <a:schemeClr val="tx1"/>
                </a:solidFill>
              </a:rPr>
              <a:t> </a:t>
            </a:r>
            <a:endParaRPr lang="en-US" sz="1600" b="1" kern="0" dirty="0">
              <a:solidFill>
                <a:schemeClr val="tx1"/>
              </a:solidFill>
            </a:endParaRPr>
          </a:p>
          <a:p>
            <a:pPr algn="ctr">
              <a:spcBef>
                <a:spcPts val="1400"/>
              </a:spcBef>
              <a:spcAft>
                <a:spcPts val="600"/>
              </a:spcAft>
            </a:pPr>
            <a:r>
              <a:rPr lang="en-US" sz="1600" b="1" kern="0" dirty="0">
                <a:solidFill>
                  <a:schemeClr val="tx1"/>
                </a:solidFill>
              </a:rPr>
              <a:t>12 sessions</a:t>
            </a:r>
          </a:p>
          <a:p>
            <a:pPr algn="ctr">
              <a:spcBef>
                <a:spcPts val="1400"/>
              </a:spcBef>
              <a:spcAft>
                <a:spcPts val="600"/>
              </a:spcAft>
            </a:pPr>
            <a:r>
              <a:rPr lang="en-US" sz="1600" b="1" kern="0" dirty="0">
                <a:solidFill>
                  <a:schemeClr val="tx1"/>
                </a:solidFill>
              </a:rPr>
              <a:t>Special prize for best performing Project!</a:t>
            </a:r>
          </a:p>
        </p:txBody>
      </p:sp>
      <p:pic>
        <p:nvPicPr>
          <p:cNvPr id="9" name="Picture 8" descr="http://www.ece.neu.edu/groups/nucar/img/nucar.png"/>
          <p:cNvPicPr/>
          <p:nvPr/>
        </p:nvPicPr>
        <p:blipFill>
          <a:blip r:embed="rId5">
            <a:extLst>
              <a:ext uri="{28A0092B-C50C-407E-A947-70E740481C1C}">
                <a14:useLocalDpi xmlns:a14="http://schemas.microsoft.com/office/drawing/2010/main" val="0"/>
              </a:ext>
            </a:extLst>
          </a:blip>
          <a:srcRect/>
          <a:stretch>
            <a:fillRect/>
          </a:stretch>
        </p:blipFill>
        <p:spPr bwMode="auto">
          <a:xfrm>
            <a:off x="4945986" y="1368914"/>
            <a:ext cx="1544955" cy="328930"/>
          </a:xfrm>
          <a:prstGeom prst="rect">
            <a:avLst/>
          </a:prstGeom>
          <a:noFill/>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w="http://schemas.openxmlformats.org/wordprocessingml/2006/main" xmlns:w10="urn:schemas-microsoft-com:office:word" xmlns:v="urn:schemas-microsoft-com:vml" xmlns:o="urn:schemas-microsoft-com:office:office" xmlns:lc="http://schemas.openxmlformats.org/drawingml/2006/lockedCanvas">
                <a:solidFill>
                  <a:srgbClr val="FFFFFF"/>
                </a:solidFill>
              </a14:hiddenFill>
            </a:ext>
          </a:extLst>
        </p:spPr>
      </p:pic>
      <p:sp>
        <p:nvSpPr>
          <p:cNvPr id="13" name="Rectangle 12"/>
          <p:cNvSpPr/>
          <p:nvPr/>
        </p:nvSpPr>
        <p:spPr>
          <a:xfrm>
            <a:off x="4832927" y="7120328"/>
            <a:ext cx="1771071" cy="17914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For more information contact:</a:t>
            </a:r>
            <a:r>
              <a:rPr lang="en-US" dirty="0">
                <a:solidFill>
                  <a:schemeClr val="tx1"/>
                </a:solidFill>
              </a:rPr>
              <a:t> </a:t>
            </a:r>
          </a:p>
          <a:p>
            <a:pPr algn="ctr"/>
            <a:r>
              <a:rPr lang="en-US" dirty="0">
                <a:solidFill>
                  <a:schemeClr val="tx1"/>
                </a:solidFill>
              </a:rPr>
              <a:t>Julian Gutierrez</a:t>
            </a:r>
          </a:p>
          <a:p>
            <a:pPr algn="ctr"/>
            <a:r>
              <a:rPr lang="en-US" sz="1050" dirty="0">
                <a:solidFill>
                  <a:schemeClr val="tx1"/>
                </a:solidFill>
              </a:rPr>
              <a:t>gutierrez.jul@husky.neu.edu</a:t>
            </a:r>
            <a:endParaRPr lang="en-US" sz="1200" dirty="0">
              <a:solidFill>
                <a:schemeClr val="tx1"/>
              </a:solidFill>
            </a:endParaRPr>
          </a:p>
        </p:txBody>
      </p:sp>
      <p:cxnSp>
        <p:nvCxnSpPr>
          <p:cNvPr id="3" name="Straight Connector 2"/>
          <p:cNvCxnSpPr/>
          <p:nvPr/>
        </p:nvCxnSpPr>
        <p:spPr>
          <a:xfrm flipH="1">
            <a:off x="5089812" y="2728210"/>
            <a:ext cx="1257300"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flipH="1">
            <a:off x="5089812" y="2191062"/>
            <a:ext cx="1257300"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flipH="1">
            <a:off x="5089812" y="5416942"/>
            <a:ext cx="1257300"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5089812" y="6380403"/>
            <a:ext cx="1257300"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pic>
        <p:nvPicPr>
          <p:cNvPr id="5" name="Picture 4" descr="A close up of a logo&#10;&#10;Description generated with high confidence">
            <a:extLst>
              <a:ext uri="{FF2B5EF4-FFF2-40B4-BE49-F238E27FC236}">
                <a16:creationId xmlns:a16="http://schemas.microsoft.com/office/drawing/2014/main" id="{37D4AB04-D34B-464C-AF42-CD300AB18A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66012" y="3204801"/>
            <a:ext cx="1104900" cy="1104900"/>
          </a:xfrm>
          <a:prstGeom prst="rect">
            <a:avLst/>
          </a:prstGeom>
        </p:spPr>
      </p:pic>
    </p:spTree>
    <p:extLst>
      <p:ext uri="{BB962C8B-B14F-4D97-AF65-F5344CB8AC3E}">
        <p14:creationId xmlns:p14="http://schemas.microsoft.com/office/powerpoint/2010/main" val="4025733133"/>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97</TotalTime>
  <Words>163</Words>
  <Application>Microsoft Office PowerPoint</Application>
  <PresentationFormat>Letter Paper (8.5x11 in)</PresentationFormat>
  <Paragraphs>21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SimSun</vt:lpstr>
      <vt:lpstr>Arial</vt:lpstr>
      <vt:lpstr>Calibri</vt:lpstr>
      <vt:lpstr>Calibri Light</vt:lpstr>
      <vt:lpstr>Georgia</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 gutierrez</dc:creator>
  <cp:lastModifiedBy>Julian Gutierrez</cp:lastModifiedBy>
  <cp:revision>14</cp:revision>
  <dcterms:created xsi:type="dcterms:W3CDTF">2016-12-09T19:43:07Z</dcterms:created>
  <dcterms:modified xsi:type="dcterms:W3CDTF">2018-12-07T20:46:51Z</dcterms:modified>
</cp:coreProperties>
</file>